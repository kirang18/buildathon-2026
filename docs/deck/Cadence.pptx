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An autonomous multi-channel SDR with a manager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F201D"/>
                </a:solidFill>
              </a:defRPr>
            </a:pPr>
            <a:r>
              <a:t>•  Launch a campaign, watch agents work it, pause it in one click.</a:t>
            </a:r>
          </a:p>
          <a:p>
            <a:pPr>
              <a:spcAft>
                <a:spcPts val="800"/>
              </a:spcAft>
              <a:defRPr sz="2200">
                <a:solidFill>
                  <a:srgbClr val="1F201D"/>
                </a:solidFill>
              </a:defRPr>
            </a:pPr>
            <a:r>
              <a:t>•  Live: buildathon-2026-production.up.railway.app</a:t>
            </a:r>
          </a:p>
          <a:p>
            <a:pPr>
              <a:spcAft>
                <a:spcPts val="800"/>
              </a:spcAft>
              <a:defRPr sz="2200">
                <a:solidFill>
                  <a:srgbClr val="1F201D"/>
                </a:solidFill>
              </a:defRPr>
            </a:pPr>
            <a:r>
              <a:t>•  Tech Contingent x DronaHQ Inter Guild Buildathon 2026</a:t>
            </a:r>
          </a:p>
          <a:p>
            <a:pPr>
              <a:spcAft>
                <a:spcPts val="800"/>
              </a:spcAft>
              <a:defRPr sz="2200">
                <a:solidFill>
                  <a:srgbClr val="1F201D"/>
                </a:solidFill>
              </a:defRPr>
            </a:pPr>
            <a:r>
              <a:t>•  Demo seller: Helix Agents (fictional). Every seeded record carries a DEMO chip.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How close is this to a real SDR working autonomously across channels?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Reps spend the day on research, copy and logging. Quality varies by rep and by day.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Nobody can answer why a message went out.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The brief: one integrated build. A control plane a manager operates, and agents that research, contact and follow up inside its campaigns.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Judges weigh multi-channel intelligence, DronaHQ usage, personalisation without hallucination, and end-to-end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One SDR, not seven bots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Five design rules, each with a visible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One prospect record, one memory: a LinkedIn reply changes the next email.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One planner owns channel choice.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One policy gate before every send: ten ordered checks in plain code.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One decision trace per action: prompt version, retrieved chunks, output, cost, gate result.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One escalation path: the same object lands in the same inbox.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Agents never send. Every send passes the Guardian, then a channel adapter.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Manager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DronaHQ Apps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Cadence API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FastAPI +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2880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Postgres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pgvector + full-text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29184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Worker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SKIP LOCKED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329184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6F7EE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Guardian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gate, conflicts, grounding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29184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Channels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Gmail, Twilio, LinkedIn sandbox, 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754880"/>
            <a:ext cx="18288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Direct agents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Qualifier, Sequencer, Writer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475488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RAG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hybrid retrieval, citations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75488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F201D"/>
                </a:solidFill>
              </a:defRPr>
            </a:pPr>
            <a:r>
              <a:t>DronaHQ agents</a:t>
            </a:r>
          </a:p>
          <a:p>
            <a:pPr algn="ctr">
              <a:defRPr sz="1100" b="0">
                <a:solidFill>
                  <a:srgbClr val="1F201D"/>
                </a:solidFill>
              </a:defRPr>
            </a:pPr>
            <a:r>
              <a:t>Researcher, Responder, Caller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77440" y="2240280"/>
            <a:ext cx="548640" cy="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754880" y="2240280"/>
            <a:ext cx="548640" cy="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40480" y="2651760"/>
            <a:ext cx="0" cy="64008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4880" y="3703320"/>
            <a:ext cx="548640" cy="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3703320"/>
            <a:ext cx="548640" cy="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40480" y="4114800"/>
            <a:ext cx="0" cy="64008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54880" y="5166360"/>
            <a:ext cx="548640" cy="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69680" y="4114800"/>
            <a:ext cx="0" cy="640080"/>
          </a:xfrm>
          <a:prstGeom prst="line">
            <a:avLst/>
          </a:prstGeom>
          <a:ln w="19050">
            <a:solidFill>
              <a:srgbClr val="5D5E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59436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01D"/>
                </a:solidFill>
              </a:defRPr>
            </a:pPr>
            <a:r>
              <a:t>•  DronaHQ agents call our seven MCP tools. Callbacks carry a shared secret.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Six model-backed units and one deterministic supervisor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Qualifier (ICP Fitment)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3619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Direct, fast model. Hard filters and the score are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21991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DronaHQ agent with web search, enrichment and MCP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Sequencer (Strategy and Follow-up)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07791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Direct, strong model. Code lists the legal channels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Writer (Personalisation)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93591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Direct, strong model. Grounding check rejects unsourced claims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Responder (Conversation)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7939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DronaHQ agent. Opt-out and hard escalation rules run before any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Caller (Voice SDR)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96519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DronaHQ Voice with pre and post webhooks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77840"/>
            <a:ext cx="3840480" cy="548640"/>
          </a:xfrm>
          <a:prstGeom prst="roundRect">
            <a:avLst>
              <a:gd name="adj" fmla="val 12000"/>
            </a:avLst>
          </a:prstGeom>
          <a:solidFill>
            <a:srgbClr val="F6F7EE"/>
          </a:solidFill>
          <a:ln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201D"/>
                </a:solidFill>
              </a:defRPr>
            </a:pPr>
            <a:r>
              <a:t>Guardian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650992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Plain code. No model can override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DronaHQ is core, and our code is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What runs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Apps Studio: a native manager app with sign in, Command Center, campaigns, dashboard and kill switch, plus the full workspace embedded.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The Researcher and Responder are DronaHQ Agentic platform agents. The Caller uses DronaHQ Voice.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Our MCP server exposes seven tools to them: search_knowledge, get_timeline, save_research, propose_slots, book_meeting, create_escalation, set_classification.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Our own code: state machine, gate, conflict engine, RAG, channels, evals, prompt versioning, auth.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If a hosted agent is silent for 90 seconds, the step reruns on the direct provider and the feed says provider_fallback.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The DronaHQ manager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Native Apps Studio screens on the live API (screens from a browser test against it)</a:t>
            </a:r>
          </a:p>
        </p:txBody>
      </p:sp>
      <p:pic>
        <p:nvPicPr>
          <p:cNvPr id="5" name="Picture 4" descr="dronahq_app_command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77840" cy="3136004"/>
          </a:xfrm>
          <a:prstGeom prst="rect">
            <a:avLst/>
          </a:prstGeom>
        </p:spPr>
      </p:pic>
      <p:pic>
        <p:nvPicPr>
          <p:cNvPr id="6" name="Picture 5" descr="dronahq_app_campaig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577840" cy="3136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Sign in, Command Center with Stop all, campaign list with pause and resume, campaign dashboard with a switch per agent, and the full workspace embedded.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The policy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Ten ordered checks, one reason code each, idempotent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F201D"/>
                </a:solidFill>
              </a:defRPr>
            </a:pPr>
            <a:r>
              <a:t>•  1 kill switch  2 campaign Live  3 agent on  4 channel on  5 not suppressed</a:t>
            </a:r>
          </a:p>
          <a:p>
            <a:pPr>
              <a:spcAft>
                <a:spcPts val="800"/>
              </a:spcAft>
              <a:defRPr sz="1900">
                <a:solidFill>
                  <a:srgbClr val="1F201D"/>
                </a:solidFill>
              </a:defRPr>
            </a:pPr>
            <a:r>
              <a:t>•  6 claim held by this campaign  7 frequency (one touch per 48 hours, four in 14 days)</a:t>
            </a:r>
          </a:p>
          <a:p>
            <a:pPr>
              <a:spcAft>
                <a:spcPts val="800"/>
              </a:spcAft>
              <a:defRPr sz="1900">
                <a:solidFill>
                  <a:srgbClr val="1F201D"/>
                </a:solidFill>
              </a:defRPr>
            </a:pPr>
            <a:r>
              <a:t>•  8 rep quota and active  9 campaign and channel daily caps  10 approval rule</a:t>
            </a:r>
          </a:p>
          <a:p>
            <a:pPr>
              <a:spcAft>
                <a:spcPts val="800"/>
              </a:spcAft>
              <a:defRPr sz="1900">
                <a:solidFill>
                  <a:srgbClr val="1F201D"/>
                </a:solidFill>
              </a:defRPr>
            </a:pPr>
            <a:r>
              <a:t>•  Per-prospect advisory lock, quota locks and a unique idempotency key: a race sends exactly one message.</a:t>
            </a:r>
          </a:p>
          <a:p>
            <a:pPr>
              <a:spcAft>
                <a:spcPts val="800"/>
              </a:spcAft>
              <a:defRPr sz="1900">
                <a:solidFill>
                  <a:srgbClr val="1F201D"/>
                </a:solidFill>
              </a:defRPr>
            </a:pPr>
            <a:r>
              <a:t>•  A Draft campaign refuses a real send attempt with campaign_not_live.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Campaigns run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Pausing one writes one row and leaves the others running</a:t>
            </a:r>
          </a:p>
        </p:txBody>
      </p:sp>
      <p:pic>
        <p:nvPicPr>
          <p:cNvPr id="5" name="Picture 4" descr="flow_pa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3804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Three Live campaigns, one Draft.</a:t>
            </a:r>
          </a:p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The worker's claim query joins each job to its own campaign.</a:t>
            </a:r>
          </a:p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test_pause_isolation: pause C2, and within five seconds C1 and C3 keep writing activity while C2 writes none.</a:t>
            </a:r>
          </a:p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Same guarantees for the agent and channel switches.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Grounded, explainable personalisation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Every claim traces to a source, and a decision trace shows why</a:t>
            </a:r>
          </a:p>
        </p:txBody>
      </p:sp>
      <p:pic>
        <p:nvPicPr>
          <p:cNvPr id="5" name="Picture 4" descr="prospects_sam-okaf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38043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Facts carry a source URL and a confidence.</a:t>
            </a:r>
          </a:p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Retrieval is campaign-scoped and hybrid.</a:t>
            </a:r>
          </a:p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Numbers must appear in their cited source. Banned phrases never pass.</a:t>
            </a:r>
          </a:p>
          <a:p>
            <a:pPr>
              <a:spcAft>
                <a:spcPts val="800"/>
              </a:spcAft>
              <a:defRPr sz="1600">
                <a:solidFill>
                  <a:srgbClr val="1F201D"/>
                </a:solidFill>
              </a:defRPr>
            </a:pPr>
            <a:r>
              <a:t>•  Two grounding failures fall back to a generic-safe draft or a human.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Measured from the database, never typed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F201D"/>
                </a:solidFill>
              </a:defRPr>
            </a:pPr>
            <a:r>
              <a:t>•  C1: 30 prospects, 15 contacted, reply rate 53%, meetings 2, cost per qualified lead $0.08</a:t>
            </a:r>
          </a:p>
          <a:p>
            <a:pPr>
              <a:spcAft>
                <a:spcPts val="800"/>
              </a:spcAft>
              <a:defRPr sz="1700">
                <a:solidFill>
                  <a:srgbClr val="1F201D"/>
                </a:solidFill>
              </a:defRPr>
            </a:pPr>
            <a:r>
              <a:t>•  C2: 30 prospects, 11 contacted, reply rate 45%, meetings 1, cost per qualified lead $0.08</a:t>
            </a:r>
          </a:p>
          <a:p>
            <a:pPr>
              <a:spcAft>
                <a:spcPts val="800"/>
              </a:spcAft>
              <a:defRPr sz="1700">
                <a:solidFill>
                  <a:srgbClr val="1F201D"/>
                </a:solidFill>
              </a:defRPr>
            </a:pPr>
            <a:r>
              <a:t>•  C3: 30 prospects, 14 contacted, reply rate 57%, meetings 2, cost per qualified lead $0.10</a:t>
            </a:r>
          </a:p>
          <a:p>
            <a:pPr>
              <a:spcAft>
                <a:spcPts val="800"/>
              </a:spcAft>
              <a:defRPr sz="1700">
                <a:solidFill>
                  <a:srgbClr val="1F201D"/>
                </a:solidFill>
              </a:defRPr>
            </a:pPr>
            <a:r>
              <a:t>•  Golden sets, 15 seeded cases per agent, scored by the runner: C1 Writer v1 60% and v2 100%.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Built to fail cleanly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99 tests against a real Postgres: every gate check, conflict cases K1 to K9, the send race, pause isolation, stop levels.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LLM failure injection: invalid JSON, empty output, wrong schema, timeouts, 429s that wait as long as the provider asks. The Qualifier never qualifies on failure.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Webhook secrets, JWT roles, injection, CORS, rate limits, and a log scan for emails.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One error envelope, structured logs, typed exceptions, secrets in the environment, ALLOWED_RECIPIENTS on every send.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What works, and what is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Sandbox is an approved state and the badge tells the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Working live: campaigns, lifecycle, gate, conflicts, prompts and replay, RAG, evals, approvals, reps, analytics, MCP, and Gmail end to end (send, reply, classify, book).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Partial: SMS (Twilio connected, first real text untested), voice (sandbox), and the hosted DronaHQ agents until they are switched on. Each falls back to sandbox or the direct provider.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LinkedIn is a sandbox by design. Golden sets are small and the live-model scores depend on the provider's rate limit.</a:t>
            </a:r>
          </a:p>
          <a:p>
            <a:pPr>
              <a:spcAft>
                <a:spcPts val="800"/>
              </a:spcAft>
              <a:defRPr sz="1800">
                <a:solidFill>
                  <a:srgbClr val="1F201D"/>
                </a:solidFill>
              </a:defRPr>
            </a:pPr>
            <a:r>
              <a:t>•  Full list: docs/report/report.md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6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01D"/>
                </a:solidFill>
              </a:defRPr>
            </a:pPr>
            <a:r>
              <a:t>Try it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D5E58"/>
                </a:solidFill>
              </a:defRPr>
            </a:pPr>
            <a:r>
              <a:t>Judge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01D"/>
                </a:solidFill>
              </a:defRPr>
            </a:pPr>
            <a:r>
              <a:t>•  1. Sign in with a demo chip. Create a campaign from the C1 template. Try Activate and read the checklist.</a:t>
            </a:r>
          </a:p>
          <a:p>
            <a:pPr>
              <a:spcAft>
                <a:spcPts val="800"/>
              </a:spcAft>
              <a:defRPr sz="2000">
                <a:solidFill>
                  <a:srgbClr val="1F201D"/>
                </a:solidFill>
              </a:defRPr>
            </a:pPr>
            <a:r>
              <a:t>•  2. Open Prompts on C3, edit the tone, save v3, and compare it with v2.</a:t>
            </a:r>
          </a:p>
          <a:p>
            <a:pPr>
              <a:spcAft>
                <a:spcPts val="800"/>
              </a:spcAft>
              <a:defRPr sz="2000">
                <a:solidFill>
                  <a:srgbClr val="1F201D"/>
                </a:solidFill>
              </a:defRPr>
            </a:pPr>
            <a:r>
              <a:t>•  3. Pause a campaign and watch Agent Activity.</a:t>
            </a:r>
          </a:p>
          <a:p>
            <a:pPr>
              <a:spcAft>
                <a:spcPts val="800"/>
              </a:spcAft>
              <a:defRPr sz="2000">
                <a:solidFill>
                  <a:srgbClr val="1F201D"/>
                </a:solidFill>
              </a:defRPr>
            </a:pPr>
            <a:r>
              <a:t>•  Live: buildathon-2026-production.up.railway.app</a:t>
            </a:r>
          </a:p>
          <a:p>
            <a:pPr>
              <a:spcAft>
                <a:spcPts val="800"/>
              </a:spcAft>
              <a:defRPr sz="2000">
                <a:solidFill>
                  <a:srgbClr val="1F201D"/>
                </a:solidFill>
              </a:defRPr>
            </a:pPr>
            <a:r>
              <a:t>•  Repo: github.com/kiranG18/Buildathon-2026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